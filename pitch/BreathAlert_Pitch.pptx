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Focos (milhões)</c:v>
                </c:pt>
              </c:strCache>
            </c:strRef>
          </c:tx>
          <c:spPr>
            <a:solidFill>
              <a:srgbClr val="EA5455"/>
            </a:solidFill>
            <a:effectLst/>
          </c:spPr>
          <c:invertIfNegative val="0"/>
          <c:dLbls>
            <c:numFmt formatCode="0.0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C536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MT</c:v>
                  </c:pt>
                  <c:pt idx="1">
                    <c:v>PA</c:v>
                  </c:pt>
                  <c:pt idx="2">
                    <c:v>MA</c:v>
                  </c:pt>
                  <c:pt idx="3">
                    <c:v>TO</c:v>
                  </c:pt>
                  <c:pt idx="4">
                    <c:v>AM</c:v>
                  </c:pt>
                  <c:pt idx="5">
                    <c:v>PI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7.67</c:v>
                </c:pt>
                <c:pt idx="1">
                  <c:v>7.51</c:v>
                </c:pt>
                <c:pt idx="2">
                  <c:v>4.14</c:v>
                </c:pt>
                <c:pt idx="3">
                  <c:v>3.04</c:v>
                </c:pt>
                <c:pt idx="4">
                  <c:v>2.96</c:v>
                </c:pt>
                <c:pt idx="5">
                  <c:v>2.29</c:v>
                </c:pt>
              </c:numCache>
            </c:numRef>
          </c:val>
        </c:ser>
        <c:dLbls>
          <c:numFmt formatCode="0.0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C536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536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EF1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Queimadas (% do ano)</c:v>
                </c:pt>
              </c:strCache>
            </c:strRef>
          </c:tx>
          <c:spPr>
            <a:solidFill>
              <a:srgbClr val="EA5455"/>
            </a:solidFill>
            <a:ln w="38100" cap="flat">
              <a:solidFill>
                <a:srgbClr val="EA5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455"/>
              </a:solidFill>
              <a:ln w="9525" cap="flat">
                <a:solidFill>
                  <a:srgbClr val="EA5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  <c:pt idx="9">
                    <c:v>Out</c:v>
                  </c:pt>
                  <c:pt idx="10">
                    <c:v>Nov</c:v>
                  </c:pt>
                  <c:pt idx="11">
                    <c:v>Dez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1.5</c:v>
                </c:pt>
                <c:pt idx="1">
                  <c:v>1.1</c:v>
                </c:pt>
                <c:pt idx="2">
                  <c:v>1.4</c:v>
                </c:pt>
                <c:pt idx="3">
                  <c:v>0.9</c:v>
                </c:pt>
                <c:pt idx="4">
                  <c:v>2</c:v>
                </c:pt>
                <c:pt idx="5">
                  <c:v>3.7</c:v>
                </c:pt>
                <c:pt idx="6">
                  <c:v>6.6</c:v>
                </c:pt>
                <c:pt idx="7">
                  <c:v>22.5</c:v>
                </c:pt>
                <c:pt idx="8">
                  <c:v>29.8</c:v>
                </c:pt>
                <c:pt idx="9">
                  <c:v>18.2</c:v>
                </c:pt>
                <c:pt idx="10">
                  <c:v>9</c:v>
                </c:pt>
                <c:pt idx="11">
                  <c:v>3.5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Internações (% do ano)</c:v>
                </c:pt>
              </c:strCache>
            </c:strRef>
          </c:tx>
          <c:spPr>
            <a:solidFill>
              <a:srgbClr val="17A2B8"/>
            </a:solidFill>
            <a:ln w="38100" cap="flat">
              <a:solidFill>
                <a:srgbClr val="17A2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A2B8"/>
              </a:solidFill>
              <a:ln w="9525" cap="flat">
                <a:solidFill>
                  <a:srgbClr val="17A2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  <c:pt idx="9">
                    <c:v>Out</c:v>
                  </c:pt>
                  <c:pt idx="10">
                    <c:v>Nov</c:v>
                  </c:pt>
                  <c:pt idx="11">
                    <c:v>Dez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6.7</c:v>
                </c:pt>
                <c:pt idx="1">
                  <c:v>6.4</c:v>
                </c:pt>
                <c:pt idx="2">
                  <c:v>8.7</c:v>
                </c:pt>
                <c:pt idx="3">
                  <c:v>9.4</c:v>
                </c:pt>
                <c:pt idx="4">
                  <c:v>10.6</c:v>
                </c:pt>
                <c:pt idx="5">
                  <c:v>10</c:v>
                </c:pt>
                <c:pt idx="6">
                  <c:v>9.3</c:v>
                </c:pt>
                <c:pt idx="7">
                  <c:v>8.6</c:v>
                </c:pt>
                <c:pt idx="8">
                  <c:v>8.1</c:v>
                </c:pt>
                <c:pt idx="9">
                  <c:v>8</c:v>
                </c:pt>
                <c:pt idx="10">
                  <c:v>7.4</c:v>
                </c:pt>
                <c:pt idx="11">
                  <c:v>6.8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1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Brasil (27 estados)</c:v>
                </c:pt>
              </c:strCache>
            </c:strRef>
          </c:tx>
          <c:spPr>
            <a:solidFill>
              <a:srgbClr val="17A2B8"/>
            </a:solidFill>
            <a:ln w="38100" cap="flat">
              <a:solidFill>
                <a:srgbClr val="17A2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A2B8"/>
              </a:solidFill>
              <a:ln w="9525" cap="flat">
                <a:solidFill>
                  <a:srgbClr val="17A2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0.012</c:v>
                </c:pt>
                <c:pt idx="1">
                  <c:v>0.003</c:v>
                </c:pt>
                <c:pt idx="2">
                  <c:v>0.004</c:v>
                </c:pt>
                <c:pt idx="3">
                  <c:v>0.031</c:v>
                </c:pt>
                <c:pt idx="4">
                  <c:v>0.049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Norte + Centro-Oeste</c:v>
                </c:pt>
              </c:strCache>
            </c:strRef>
          </c:tx>
          <c:spPr>
            <a:solidFill>
              <a:srgbClr val="EA5455"/>
            </a:solidFill>
            <a:ln w="38100" cap="flat">
              <a:solidFill>
                <a:srgbClr val="EA5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455"/>
              </a:solidFill>
              <a:ln w="9525" cap="flat">
                <a:solidFill>
                  <a:srgbClr val="EA5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0.02</c:v>
                </c:pt>
                <c:pt idx="1">
                  <c:v>0.014</c:v>
                </c:pt>
                <c:pt idx="2">
                  <c:v>0.007</c:v>
                </c:pt>
                <c:pt idx="3">
                  <c:v>0.047</c:v>
                </c:pt>
                <c:pt idx="4">
                  <c:v>0.066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0"/>
        <c:axPos val="l"/>
        <c:majorGridlines>
          <c:spPr>
            <a:ln w="6350" cap="flat">
              <a:solidFill>
                <a:srgbClr val="EEF1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6B77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Correlação (lag 3 meses)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C536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Norte</c:v>
                  </c:pt>
                  <c:pt idx="1">
                    <c:v>Centro-Oeste</c:v>
                  </c:pt>
                  <c:pt idx="2">
                    <c:v>Nordeste</c:v>
                  </c:pt>
                  <c:pt idx="3">
                    <c:v>Sudeste</c:v>
                  </c:pt>
                  <c:pt idx="4">
                    <c:v>Sul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0.053</c:v>
                </c:pt>
                <c:pt idx="1">
                  <c:v>0.036</c:v>
                </c:pt>
                <c:pt idx="2">
                  <c:v>0.018</c:v>
                </c:pt>
                <c:pt idx="3">
                  <c:v>0.154</c:v>
                </c:pt>
                <c:pt idx="4">
                  <c:v>-0.153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C536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1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17A2B8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" y="534924"/>
            <a:ext cx="146304" cy="64008"/>
          </a:xfrm>
          <a:prstGeom prst="rect">
            <a:avLst/>
          </a:prstGeom>
          <a:solidFill>
            <a:srgbClr val="FDCA26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3840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BREATHALERT BR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FD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SOLUTION 2026 · CIÊNCIA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a </a:t>
            </a:r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DC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fumaça</a:t>
            </a:r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vira</a:t>
            </a:r>
            <a:pPr indent="0" marL="0">
              <a:lnSpc>
                <a:spcPct val="98000"/>
              </a:lnSpc>
              <a:buNone/>
            </a:pP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internação.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29077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investigação de dados sobre queimadas e saúde respiratória no Brasil, 2016–2025.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1783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DC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41.1 mi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4944" y="40416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F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focos (INPE)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14600" y="3429000"/>
            <a:ext cx="1783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0904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DC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 mi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660904" y="40416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F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(SUS)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3429000"/>
            <a:ext cx="1783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DC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626864" y="40416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F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· 120 meses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46520" y="3429000"/>
            <a:ext cx="1783080" cy="96012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92824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DC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592824" y="40416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F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de série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9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Solution 2026 · Ciência de Dados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EQUIPE ZYVIA · TURMA 1TSCOR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está por trás do BreathAlert BR.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64208"/>
            <a:ext cx="310896" cy="310896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64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JONAS ALVES SOARES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263640" y="155448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RM566711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185416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295144"/>
            <a:ext cx="310896" cy="310896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295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2185416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JOSÉ ADRIANO PEREIRA GOMES DA SILVA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3640" y="21854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RM566595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926080"/>
            <a:ext cx="310896" cy="310896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88720" y="2816352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LEONARDO ROMÃO ALVES FEITOSA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2816352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RM568475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4728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3557016"/>
            <a:ext cx="310896" cy="310896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557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88720" y="3447288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MARCELLA ROMANO DA SILVA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63640" y="344728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RM566759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78224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EAF6F8"/>
          </a:solidFill>
          <a:ln w="12700">
            <a:solidFill>
              <a:srgbClr val="17A2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187952"/>
            <a:ext cx="310896" cy="310896"/>
          </a:xfrm>
          <a:prstGeom prst="ellipse">
            <a:avLst/>
          </a:prstGeom>
          <a:solidFill>
            <a:srgbClr val="17A2B8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88720" y="4078224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SAULO GUIMARAES SAPUCAIA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63640" y="4078224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RM568079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0" y="407822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REPRESENTANTE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O PROBLEMA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fumaça não respeita fronteiras — nem pulmões.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queimadas liberam material particulado que agrava asma, bronquite e DPOC. Mas esse impacto é difícil de enxergar nos números: ele se esconde atrás do inverno, das epidemias sazonais e do tamanho da população. Nossa missão foi isolar o sinal da fumaça em meio a esse ruído.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A54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41.1 mi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FOCOS EM 10 ANOS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A2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 mi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291840" y="3931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INTERNAÇÕES NO PERÍODO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350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035040" y="3931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BASES PÚBLICAS CRUZADAS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A BASE DE QUEIMADAS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Poucos estados concentram o fogo.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00200"/>
          <a:ext cx="48463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532120" y="17830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C53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Mato Grosso e Pará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sozinhos respondem por quase 40% de todos os focos da série — a marca da fronteira agrícola sobre Amazônia e Cerrado.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532120" y="3383280"/>
            <a:ext cx="45720" cy="914400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7" name="Text 4"/>
          <p:cNvSpPr/>
          <p:nvPr/>
        </p:nvSpPr>
        <p:spPr>
          <a:xfrm>
            <a:off x="5715000" y="3401568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C53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ambiental: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seca acumulada prevê o fogo melhor (r=0,76) que o índice de risco oficial (0,57).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02B · A PISTA AGRÍCOLA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lavoura não é, sozinha, mais fogo.</a:t>
            </a:r>
            <a:endParaRPr lang="en-US" sz="2500" dirty="0"/>
          </a:p>
        </p:txBody>
      </p:sp>
      <p:pic>
        <p:nvPicPr>
          <p:cNvPr id="4" name="Image 0" descr="/home/claude/agro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81328"/>
            <a:ext cx="4846320" cy="3465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0" y="17373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área plantada se associa aos focos (Spearman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C53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0,47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mas de forma moderada — o Sul planta muito e queima pouco.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0" y="3063240"/>
            <a:ext cx="45720" cy="1417320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0" y="3090672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C53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Normalizado por 1.000 ha de lavoura,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Norte dispara (AM≈201, AC≈77) e o Sul some (RS≈0,2): o fogo amazônico é de abertura de área, não de manejo agrícola.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 DESCOBERTA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dois calendários não batem.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82296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4074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 sobem na seca (ago–out). Internações sobem no inverno (abr–jun). As ondas estão fora de fase — por isso, no mesmo mês, a correlação é nula.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O SINAL ESCONDIDO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Removida a sazonalidade, o sinal aparece.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0" y="155448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173736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Medindo </a:t>
            </a:r>
            <a:pPr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2C53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anomalias</a:t>
            </a:r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(desvio do normal) e aplicando </a:t>
            </a:r>
            <a:pPr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2C53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defasagem</a:t>
            </a:r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correlação vira positiva e cresce com o atraso — mais forte nos estados de queimada intensa.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3429000"/>
            <a:ext cx="45720" cy="1005840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4728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Coerente com a fisiologia: a fumaça agrava quadros nos meses seguintes, não no mesmo dia. Sinal fraco, mas consistente.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ONDE O SINAL MORA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efeito tem endereço: o Sudeste.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00200"/>
          <a:ext cx="48463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532120" y="178308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Recortando por região, o sinal se concentra no Sudeste (pico em 3 meses de defasagem) — não porque a fumaça lá seja pior, mas porque a grande população permite medir com menos ruído.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532120" y="3657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dá para medir bem, </a:t>
            </a:r>
            <a:pPr indent="0" marL="0">
              <a:buNone/>
            </a:pPr>
            <a:r>
              <a:rPr lang="en-US" sz="1400" b="1" dirty="0">
                <a:solidFill>
                  <a:srgbClr val="2C53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efeito aparece.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A PROVA ESTATÍSTICA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Sudeste, a estatística confirma.</a:t>
            </a:r>
            <a:endParaRPr lang="en-US" sz="2700" dirty="0"/>
          </a:p>
        </p:txBody>
      </p:sp>
      <p:pic>
        <p:nvPicPr>
          <p:cNvPr id="4" name="Image 0" descr="/home/claude/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17320"/>
            <a:ext cx="4983480" cy="3694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0" y="16002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Mann-Whitney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669280" y="1984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TESTE NÃO-PARAMÉTRICO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69280" y="24414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C7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0,026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669280" y="28254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REJEITA H₀ (SIGNIFICATIVO)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69280" y="328269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54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 meses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669280" y="36667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DEFASAGEM DO EFEITO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669280" y="4224528"/>
            <a:ext cx="45720" cy="731520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12" name="Text 9"/>
          <p:cNvSpPr/>
          <p:nvPr/>
        </p:nvSpPr>
        <p:spPr>
          <a:xfrm>
            <a:off x="5852160" y="4206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honesto: localizado, não nacional. Pede confirmação com dados municipais e diários.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O PRODUTO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fraqueza do sinal é o argumento do BreathAlert BR.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impacto da fumaça se dilui nas estatísticas nacionais — fica quase invisível justamente onde as decisões de saúde são tomadas. Um alerta eficaz precisa agir localmente e de forma antecipada, usando a seca (que sobe antes do fogo) como gatilho precoce.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5146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0F2027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3127248"/>
            <a:ext cx="384048" cy="384048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3108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estado/região,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média nacional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25146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0F2027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3127248"/>
            <a:ext cx="384048" cy="384048"/>
          </a:xfrm>
          <a:prstGeom prst="ellipse">
            <a:avLst/>
          </a:prstGeom>
          <a:solidFill>
            <a:srgbClr val="17A2B8"/>
          </a:solidFill>
          <a:ln/>
        </p:spPr>
      </p:sp>
      <p:sp>
        <p:nvSpPr>
          <p:cNvPr id="11" name="Text 9"/>
          <p:cNvSpPr/>
          <p:nvPr/>
        </p:nvSpPr>
        <p:spPr>
          <a:xfrm>
            <a:off x="3977640" y="3108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2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Antecipado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02152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 na seca,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fogo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880360"/>
            <a:ext cx="25146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0F2027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3127248"/>
            <a:ext cx="384048" cy="384048"/>
          </a:xfrm>
          <a:prstGeom prst="ellipse">
            <a:avLst/>
          </a:prstGeom>
          <a:solidFill>
            <a:srgbClr val="EA5455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108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4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Preventivo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199632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à saúde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internação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PERSONAS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quem construímos o BreathAlert BR.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862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0F2027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3886200" cy="64008"/>
          </a:xfrm>
          <a:prstGeom prst="rect">
            <a:avLst/>
          </a:prstGeom>
          <a:solidFill>
            <a:srgbClr val="2C5364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810512"/>
            <a:ext cx="502920" cy="502920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10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44752" y="18196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Helena, 46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21122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Secretária Municipal de Saúde · interior do MT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248716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C5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04672" y="2670048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 a rede de saúde de uma cidade na fronteira agrícola; toda seca enfrenta picos de atendimento.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4672" y="316382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C5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" y="33467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percebe o impacto da fumaça quando as internações já lotaram os leitos.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4672" y="38404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C5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4672" y="4023360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protocolos, leitos e campanhas antes do pico — não depois.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1554480"/>
            <a:ext cx="38862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0F2027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554480"/>
            <a:ext cx="3886200" cy="64008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18" name="Shape 16"/>
          <p:cNvSpPr/>
          <p:nvPr/>
        </p:nvSpPr>
        <p:spPr>
          <a:xfrm>
            <a:off x="4965192" y="1810512"/>
            <a:ext cx="502920" cy="502920"/>
          </a:xfrm>
          <a:prstGeom prst="ellipse">
            <a:avLst/>
          </a:prstGeom>
          <a:solidFill>
            <a:srgbClr val="17A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965192" y="1810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05272" y="18196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Marcos, 38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05272" y="21122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Médico de UBS · Amazônia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65192" y="248716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965192" y="2670048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 crianças e idosos com asma e bronquite numa região de queimadas intensas.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965192" y="316382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965192" y="33467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uma enxurrada de crises respiratórias sem nenhum aviso prévio.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65192" y="384048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65192" y="4023360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a equipe e orientar pacientes de risco quando a seca aumenta.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· PÚBLICO-ALVO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usa o BreathAlert BR.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420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2542032" cy="64008"/>
          </a:xfrm>
          <a:prstGeom prst="rect">
            <a:avLst/>
          </a:prstGeom>
          <a:solidFill>
            <a:srgbClr val="2C536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5564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Secretarias de Saúde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15798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Acionam protocolos e campanhas a partir do alerta antecipado.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420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554480"/>
            <a:ext cx="2542032" cy="64008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75564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Defesa Civil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74720" y="215798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 risco e mobilizam resposta nos períodos de seca.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554480"/>
            <a:ext cx="25420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554480"/>
            <a:ext cx="2542032" cy="64008"/>
          </a:xfrm>
          <a:prstGeom prst="rect">
            <a:avLst/>
          </a:prstGeom>
          <a:solidFill>
            <a:srgbClr val="EA5455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75564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Hospitais e UBSs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17920" y="215798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 leitos e insumos antes dos períodos críticos.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25420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063240"/>
            <a:ext cx="2542032" cy="64008"/>
          </a:xfrm>
          <a:prstGeom prst="rect">
            <a:avLst/>
          </a:prstGeom>
          <a:solidFill>
            <a:srgbClr val="28C76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26440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Pesquisadores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366674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Estudam a relação ambiente × saúde com base aberta e reprodutível.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91840" y="3063240"/>
            <a:ext cx="25420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3063240"/>
            <a:ext cx="2542032" cy="64008"/>
          </a:xfrm>
          <a:prstGeom prst="rect">
            <a:avLst/>
          </a:prstGeom>
          <a:solidFill>
            <a:srgbClr val="C99700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326440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Agências reguladoras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74720" y="366674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ANVISA e CONAMA: subsídio a políticas públicas baseadas em dados.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IMPACTOS E BENEFÍCIOS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a solução muda — e por quê.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862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0F2027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3886200" cy="64008"/>
          </a:xfrm>
          <a:prstGeom prst="rect">
            <a:avLst/>
          </a:prstGeom>
          <a:solidFill>
            <a:srgbClr val="2C536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Impactos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41248" y="2395728"/>
            <a:ext cx="91440" cy="91440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331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mais rápida das secretarias nos períodos de risco.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2926080"/>
            <a:ext cx="91440" cy="91440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8620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alocação de leitos e insumos hospitalares.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3456432"/>
            <a:ext cx="91440" cy="91440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39242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públicas baseadas em dados (ANVISA/CONAMA).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41248" y="3986784"/>
            <a:ext cx="91440" cy="91440"/>
          </a:xfrm>
          <a:prstGeom prst="ellipse">
            <a:avLst/>
          </a:prstGeom>
          <a:solidFill>
            <a:srgbClr val="2C536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9227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 dados espaciais democratizado para municípios.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554480"/>
            <a:ext cx="38862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0F2027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554480"/>
            <a:ext cx="3886200" cy="64008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A2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Benefícios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001768" y="2395728"/>
            <a:ext cx="91440" cy="91440"/>
          </a:xfrm>
          <a:prstGeom prst="ellipse">
            <a:avLst/>
          </a:prstGeom>
          <a:solidFill>
            <a:srgbClr val="17A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2331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de internações evitáveis pela exposição à fumaça.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01768" y="2926080"/>
            <a:ext cx="91440" cy="91440"/>
          </a:xfrm>
          <a:prstGeom prst="ellipse">
            <a:avLst/>
          </a:prstGeom>
          <a:solidFill>
            <a:srgbClr val="17A2B8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28620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de recursos: prevenir custa menos que tratar.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01768" y="3456432"/>
            <a:ext cx="91440" cy="91440"/>
          </a:xfrm>
          <a:prstGeom prst="ellipse">
            <a:avLst/>
          </a:prstGeom>
          <a:solidFill>
            <a:srgbClr val="17A2B8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0" y="339242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replicável para outros biomas e regiões.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01768" y="3986784"/>
            <a:ext cx="91440" cy="91440"/>
          </a:xfrm>
          <a:prstGeom prst="ellipse">
            <a:avLst/>
          </a:prstGeom>
          <a:solidFill>
            <a:srgbClr val="17A2B8"/>
          </a:solidFill>
          <a:ln/>
        </p:spPr>
      </p:sp>
      <p:sp>
        <p:nvSpPr>
          <p:cNvPr id="25" name="Text 23"/>
          <p:cNvSpPr/>
          <p:nvPr/>
        </p:nvSpPr>
        <p:spPr>
          <a:xfrm>
            <a:off x="5212080" y="39227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por evidência, não por percepção.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TECNOLOGIAS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Tecnologias — e em que fase entram.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2542032" cy="64008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73352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· COLETA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1520" y="189280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· APIs públicas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35915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INPE, DATASUS e IBGE — ingestão das 4 bases.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5087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08760"/>
            <a:ext cx="2542032" cy="64008"/>
          </a:xfrm>
          <a:prstGeom prst="rect">
            <a:avLst/>
          </a:prstGeom>
          <a:solidFill>
            <a:srgbClr val="2C5364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673352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C5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· TRATAMENTO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474720" y="189280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Pandas · NumPy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74720" y="235915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Limpeza, dedup, -999→NaN, padronização de datas.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5087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508760"/>
            <a:ext cx="2542032" cy="64008"/>
          </a:xfrm>
          <a:prstGeom prst="rect">
            <a:avLst/>
          </a:prstGeom>
          <a:solidFill>
            <a:srgbClr val="EA5455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673352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A5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· ANÁLISE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17920" y="189280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SciPy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217920" y="235915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Pearson/Spearman, anomalias e teste de Mann-Whitney.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108960"/>
            <a:ext cx="2542032" cy="64008"/>
          </a:xfrm>
          <a:prstGeom prst="rect">
            <a:avLst/>
          </a:prstGeom>
          <a:solidFill>
            <a:srgbClr val="28C76F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273552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C7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· COMUNICAÇÃO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" y="349300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Matplotlib · Seaborn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395935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e visualizações interpretadas.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3108960"/>
            <a:ext cx="2542032" cy="64008"/>
          </a:xfrm>
          <a:prstGeom prst="rect">
            <a:avLst/>
          </a:prstGeom>
          <a:solidFill>
            <a:srgbClr val="203A43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3273552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03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· DESENVOLVIMENTO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474720" y="349300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Jupyter · Git/GitHub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74720" y="395935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reprodutível e versionamento.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31089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3108960"/>
            <a:ext cx="2542032" cy="64008"/>
          </a:xfrm>
          <a:prstGeom prst="rect">
            <a:avLst/>
          </a:prstGeom>
          <a:solidFill>
            <a:srgbClr val="C99700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3273552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997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· EVOLUÇÃO (FUTURO)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217920" y="349300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Scikit-learn · Prophet · Plotly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217920" y="395935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sazonal e dashboard de alertas.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ARQUITETURA DA SOLUÇÃO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coleta pública ao alerta de saúde.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2514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190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5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INPE / BDQueimadas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85800" y="19933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focos de calor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46120" y="1627632"/>
            <a:ext cx="2514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7190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5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DATASUS / SIH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0" y="19933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resp.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0" y="1627632"/>
            <a:ext cx="25146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17190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5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IBGE · SIDRA/PAM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080760" y="19933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 área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0" y="23591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7A2B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43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331720" y="2743200"/>
            <a:ext cx="228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E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60320" y="27432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2C5364"/>
          </a:solidFill>
          <a:ln/>
        </p:spPr>
      </p:sp>
      <p:sp>
        <p:nvSpPr>
          <p:cNvPr id="18" name="Text 16"/>
          <p:cNvSpPr/>
          <p:nvPr/>
        </p:nvSpPr>
        <p:spPr>
          <a:xfrm>
            <a:off x="2651760" y="2743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&amp;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43400" y="2743200"/>
            <a:ext cx="228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E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0" y="27432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EA5455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2743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&amp;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Estatística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2743200"/>
            <a:ext cx="228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E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583680" y="27432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28C76F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2743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(IRSQ)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40416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das fontes públicas → ingestão → limpeza (dedup, -999→NaN, datas) → análise (correlação, defasagem, teste de hipótese) → entrega no Índice de Risco à Saúde por Queimadas (IRSQ), com painel e alertas por estado/região.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· O QUE VEM A SEGUIR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é o começo, não o ponto final.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2542032" cy="64008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73352"/>
            <a:ext cx="2176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GRANULARIDADE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31520" y="190195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Dados municipais e diários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235000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Descer da escala estadual/mensal para onde a fumaça age.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5087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08760"/>
            <a:ext cx="2542032" cy="64008"/>
          </a:xfrm>
          <a:prstGeom prst="rect">
            <a:avLst/>
          </a:prstGeom>
          <a:solidFill>
            <a:srgbClr val="EA5455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673352"/>
            <a:ext cx="2176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A5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PREVISÃO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474720" y="190195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preditivo sazonal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474720" y="235000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Prophet/LSTM para antecipar picos a partir da seca.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5087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508760"/>
            <a:ext cx="2542032" cy="64008"/>
          </a:xfrm>
          <a:prstGeom prst="rect">
            <a:avLst/>
          </a:prstGeom>
          <a:solidFill>
            <a:srgbClr val="28C76F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673352"/>
            <a:ext cx="2176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8C7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217920" y="190195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Qualidade do ar (PM2.5)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17920" y="235000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material particulado (MERRA-2/estações).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108960"/>
            <a:ext cx="2542032" cy="64008"/>
          </a:xfrm>
          <a:prstGeom prst="rect">
            <a:avLst/>
          </a:prstGeom>
          <a:solidFill>
            <a:srgbClr val="2C5364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273552"/>
            <a:ext cx="2176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C5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ÍNDICE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50215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IRSQ por município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31520" y="395020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risco com níveis de alerta por cidade.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3108960"/>
            <a:ext cx="2542032" cy="64008"/>
          </a:xfrm>
          <a:prstGeom prst="rect">
            <a:avLst/>
          </a:prstGeom>
          <a:solidFill>
            <a:srgbClr val="C99700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3273552"/>
            <a:ext cx="2176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997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ACESSO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474720" y="350215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pública e dashboard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3474720" y="395020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aberto para secretarias e Defesa Civil.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108960"/>
            <a:ext cx="25420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sx="100000" sy="100000" kx="0" ky="0" algn="bl" rotWithShape="0" blurRad="88900" dist="25400" dir="5400000">
              <a:srgbClr val="0F2027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3108960"/>
            <a:ext cx="2542032" cy="64008"/>
          </a:xfrm>
          <a:prstGeom prst="rect">
            <a:avLst/>
          </a:prstGeom>
          <a:solidFill>
            <a:srgbClr val="203A43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3273552"/>
            <a:ext cx="2176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03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VALIDAÇÃO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217920" y="350215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53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 em campo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217920" y="395020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alertas com dados reais de atendimento.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C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123444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7A2B8"/>
          </a:solidFill>
          <a:ln/>
        </p:spPr>
      </p:sp>
      <p:sp>
        <p:nvSpPr>
          <p:cNvPr id="3" name="Shape 1"/>
          <p:cNvSpPr/>
          <p:nvPr/>
        </p:nvSpPr>
        <p:spPr>
          <a:xfrm>
            <a:off x="4297680" y="1426464"/>
            <a:ext cx="182880" cy="73152"/>
          </a:xfrm>
          <a:prstGeom prst="rect">
            <a:avLst/>
          </a:prstGeom>
          <a:solidFill>
            <a:srgbClr val="FDCA26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BREATHALERT BR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371600" y="22402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dados à decisão que protege quem respira.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completa, código e metodologia no repositório do projeto.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828800" y="3611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A2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github.com/SauloSapucaia/BreathAlert_BR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3931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Vídeo pitch:  </a:t>
            </a:r>
            <a:pPr algn="ctr" indent="0" marL="0">
              <a:buNone/>
            </a:pPr>
            <a:r>
              <a:rPr lang="en-US" sz="1200" b="1" dirty="0">
                <a:solidFill>
                  <a:srgbClr val="FDCA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youtu.be/46a1U57EdPY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4434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F93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Fontes: INPE/BDQueimadas · DATASUS/SIH-SUS · IBGE/SIDRA pop. (tab. 6579) · IBGE/PAM área (tab. 5457)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BreathAlert BR · Global Solution 2026</dc:title>
  <dc:subject>PptxGenJS Presentation</dc:subject>
  <dc:creator>BreathAlert BR</dc:creator>
  <cp:lastModifiedBy>BreathAlert BR</cp:lastModifiedBy>
  <cp:revision>1</cp:revision>
  <dcterms:created xsi:type="dcterms:W3CDTF">2026-06-07T22:48:21Z</dcterms:created>
  <dcterms:modified xsi:type="dcterms:W3CDTF">2026-06-07T22:48:22Z</dcterms:modified>
</cp:coreProperties>
</file>