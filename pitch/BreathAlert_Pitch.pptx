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Focos (milhões)</c:v>
                </c:pt>
              </c:strCache>
            </c:strRef>
          </c:tx>
          <c:spPr>
            <a:solidFill>
              <a:srgbClr val="EA5455"/>
            </a:solidFill>
            <a:effectLst/>
          </c:spPr>
          <c:invertIfNegative val="0"/>
          <c:dLbls>
            <c:numFmt formatCode="0.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C536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MT</c:v>
                  </c:pt>
                  <c:pt idx="1">
                    <c:v>PA</c:v>
                  </c:pt>
                  <c:pt idx="2">
                    <c:v>MA</c:v>
                  </c:pt>
                  <c:pt idx="3">
                    <c:v>TO</c:v>
                  </c:pt>
                  <c:pt idx="4">
                    <c:v>AM</c:v>
                  </c:pt>
                  <c:pt idx="5">
                    <c:v>PI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7.67</c:v>
                </c:pt>
                <c:pt idx="1">
                  <c:v>7.51</c:v>
                </c:pt>
                <c:pt idx="2">
                  <c:v>4.14</c:v>
                </c:pt>
                <c:pt idx="3">
                  <c:v>3.04</c:v>
                </c:pt>
                <c:pt idx="4">
                  <c:v>2.96</c:v>
                </c:pt>
                <c:pt idx="5">
                  <c:v>2.29</c:v>
                </c:pt>
              </c:numCache>
            </c:numRef>
          </c:val>
        </c:ser>
        <c:dLbls>
          <c:numFmt formatCode="0.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C536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C536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EF1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Queimadas (% do ano)</c:v>
                </c:pt>
              </c:strCache>
            </c:strRef>
          </c:tx>
          <c:spPr>
            <a:solidFill>
              <a:srgbClr val="EA5455"/>
            </a:solidFill>
            <a:ln w="38100" cap="flat">
              <a:solidFill>
                <a:srgbClr val="EA54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A5455"/>
              </a:solidFill>
              <a:ln w="9525" cap="flat">
                <a:solidFill>
                  <a:srgbClr val="EA54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1.5</c:v>
                </c:pt>
                <c:pt idx="1">
                  <c:v>1.1</c:v>
                </c:pt>
                <c:pt idx="2">
                  <c:v>1.4</c:v>
                </c:pt>
                <c:pt idx="3">
                  <c:v>0.9</c:v>
                </c:pt>
                <c:pt idx="4">
                  <c:v>2</c:v>
                </c:pt>
                <c:pt idx="5">
                  <c:v>3.7</c:v>
                </c:pt>
                <c:pt idx="6">
                  <c:v>6.6</c:v>
                </c:pt>
                <c:pt idx="7">
                  <c:v>22.5</c:v>
                </c:pt>
                <c:pt idx="8">
                  <c:v>29.8</c:v>
                </c:pt>
                <c:pt idx="9">
                  <c:v>18.2</c:v>
                </c:pt>
                <c:pt idx="10">
                  <c:v>9</c:v>
                </c:pt>
                <c:pt idx="11">
                  <c:v>3.5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Internações (% do ano)</c:v>
                </c:pt>
              </c:strCache>
            </c:strRef>
          </c:tx>
          <c:spPr>
            <a:solidFill>
              <a:srgbClr val="17A2B8"/>
            </a:solidFill>
            <a:ln w="38100" cap="flat">
              <a:solidFill>
                <a:srgbClr val="17A2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7A2B8"/>
              </a:solidFill>
              <a:ln w="9525" cap="flat">
                <a:solidFill>
                  <a:srgbClr val="17A2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  <c:pt idx="9">
                    <c:v>Out</c:v>
                  </c:pt>
                  <c:pt idx="10">
                    <c:v>Nov</c:v>
                  </c:pt>
                  <c:pt idx="11">
                    <c:v>Dez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6.7</c:v>
                </c:pt>
                <c:pt idx="1">
                  <c:v>6.4</c:v>
                </c:pt>
                <c:pt idx="2">
                  <c:v>8.7</c:v>
                </c:pt>
                <c:pt idx="3">
                  <c:v>9.4</c:v>
                </c:pt>
                <c:pt idx="4">
                  <c:v>10.6</c:v>
                </c:pt>
                <c:pt idx="5">
                  <c:v>10</c:v>
                </c:pt>
                <c:pt idx="6">
                  <c:v>9.3</c:v>
                </c:pt>
                <c:pt idx="7">
                  <c:v>8.6</c:v>
                </c:pt>
                <c:pt idx="8">
                  <c:v>8.1</c:v>
                </c:pt>
                <c:pt idx="9">
                  <c:v>8</c:v>
                </c:pt>
                <c:pt idx="10">
                  <c:v>7.4</c:v>
                </c:pt>
                <c:pt idx="11">
                  <c:v>6.8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1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6B778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 (27 estados)</c:v>
                </c:pt>
              </c:strCache>
            </c:strRef>
          </c:tx>
          <c:spPr>
            <a:solidFill>
              <a:srgbClr val="17A2B8"/>
            </a:solidFill>
            <a:ln w="38100" cap="flat">
              <a:solidFill>
                <a:srgbClr val="17A2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7A2B8"/>
              </a:solidFill>
              <a:ln w="9525" cap="flat">
                <a:solidFill>
                  <a:srgbClr val="17A2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0.012</c:v>
                </c:pt>
                <c:pt idx="1">
                  <c:v>0.003</c:v>
                </c:pt>
                <c:pt idx="2">
                  <c:v>0.004</c:v>
                </c:pt>
                <c:pt idx="3">
                  <c:v>0.031</c:v>
                </c:pt>
                <c:pt idx="4">
                  <c:v>0.049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Norte + Centro-Oeste</c:v>
                </c:pt>
              </c:strCache>
            </c:strRef>
          </c:tx>
          <c:spPr>
            <a:solidFill>
              <a:srgbClr val="EA5455"/>
            </a:solidFill>
            <a:ln w="38100" cap="flat">
              <a:solidFill>
                <a:srgbClr val="EA54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A5455"/>
              </a:solidFill>
              <a:ln w="9525" cap="flat">
                <a:solidFill>
                  <a:srgbClr val="EA54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0.02</c:v>
                </c:pt>
                <c:pt idx="1">
                  <c:v>0.014</c:v>
                </c:pt>
                <c:pt idx="2">
                  <c:v>0.007</c:v>
                </c:pt>
                <c:pt idx="3">
                  <c:v>0.047</c:v>
                </c:pt>
                <c:pt idx="4">
                  <c:v>0.066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8"/>
          <c:min val="0"/>
        </c:scaling>
        <c:delete val="0"/>
        <c:axPos val="l"/>
        <c:majorGridlines>
          <c:spPr>
            <a:ln w="6350" cap="flat">
              <a:solidFill>
                <a:srgbClr val="EEF1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6B778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Correlação (lag 3 meses)</c:v>
                </c:pt>
              </c:strCache>
            </c:strRef>
          </c:tx>
          <c:spPr>
            <a:solidFill>
              <a:srgbClr val="17A2B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C536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Norte</c:v>
                  </c:pt>
                  <c:pt idx="1">
                    <c:v>Centro-Oeste</c:v>
                  </c:pt>
                  <c:pt idx="2">
                    <c:v>Nordeste</c:v>
                  </c:pt>
                  <c:pt idx="3">
                    <c:v>Sudeste</c:v>
                  </c:pt>
                  <c:pt idx="4">
                    <c:v>Sul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0.053</c:v>
                </c:pt>
                <c:pt idx="1">
                  <c:v>0.036</c:v>
                </c:pt>
                <c:pt idx="2">
                  <c:v>0.018</c:v>
                </c:pt>
                <c:pt idx="3">
                  <c:v>0.154</c:v>
                </c:pt>
                <c:pt idx="4">
                  <c:v>-0.153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2C536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1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17A2B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" y="534924"/>
            <a:ext cx="146304" cy="64008"/>
          </a:xfrm>
          <a:prstGeom prst="rect">
            <a:avLst/>
          </a:prstGeom>
          <a:solidFill>
            <a:srgbClr val="FDCA26"/>
          </a:solidFill>
          <a:ln/>
        </p:spPr>
      </p:sp>
      <p:sp>
        <p:nvSpPr>
          <p:cNvPr id="4" name="Text 2"/>
          <p:cNvSpPr/>
          <p:nvPr/>
        </p:nvSpPr>
        <p:spPr>
          <a:xfrm>
            <a:off x="1024128" y="3840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BREATHALERT BR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FD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 SOLUTION 2026 · CIÊNCIA DE DADOS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a </a:t>
            </a:r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DC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fumaça</a:t>
            </a:r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vira</a:t>
            </a:r>
            <a:pPr indent="0" marL="0">
              <a:lnSpc>
                <a:spcPct val="98000"/>
              </a:lnSpc>
              <a:buNone/>
            </a:pP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internação.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29077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investigação de dados sobre queimadas e saúde respiratória no Brasil, 2016–2025.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783080" cy="96012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DC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41.1 mi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4944" y="40416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focos (INPE)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14600" y="3429000"/>
            <a:ext cx="1783080" cy="96012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60904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DC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11.5 mi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60904" y="40416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internações (SUS)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80560" y="3429000"/>
            <a:ext cx="1783080" cy="96012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DC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26864" y="40416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· 120 meses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46520" y="3429000"/>
            <a:ext cx="1783080" cy="960120"/>
          </a:xfrm>
          <a:prstGeom prst="roundRect">
            <a:avLst>
              <a:gd name="adj" fmla="val 66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2824" y="35661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DC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592824" y="40416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DB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de série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4736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9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Solution 2026 · Ciência de Dados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O PROBLEMA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C53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fumaça não respeita fronteiras — nem pulmões.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queimadas liberam material particulado que agrava asma, bronquite e DPOC. Mas esse impacto é difícil de enxergar nos números: ele se esconde atrás do inverno, das epidemias sazonais e do tamanho da população. Nossa missão foi isolar o sinal da fumaça em meio a esse ruído.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5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41.1 mi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7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FOCOS EM 10 ANOS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9184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A2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11.5 mi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9184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7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INTERNAÇÕES NO PERÍODO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35040" y="3246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53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035040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B7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BASES PÚBLICAS CRUZADAS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C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A BASE DE QUEIMADAS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C53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Poucos estados concentram o fogo.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48463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32120" y="17830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C5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 Grosso e Pará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sozinhos respondem por quase 40% de todos os focos da série — a marca da fronteira agrícola sobre Amazônia e Cerrado.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532120" y="3383280"/>
            <a:ext cx="45720" cy="9144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0" y="3401568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C5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ambiental: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seca acumulada prevê o fogo melhor (r=0,76) que o índice de risco oficial (0,57).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C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A DESCOBERTA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C53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dois calendários não batem.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82296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0740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Queimadas picam na seca (ago–out). Internações picam no inverno (abr–jun). As ondas estão fora de fase — por isso, no mesmo mês, a correlação é nula.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C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O SINAL ESCONDIDO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C53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Removida a sazonalidade, o sinal aparece.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0" y="155448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173736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Medindo </a:t>
            </a:r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2C5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(desvio do normal) e aplicando </a:t>
            </a:r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2C5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defasagem</a:t>
            </a:r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correlação vira positiva e cresce com o atraso — mais forte nos estados de queimada intensa.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3429000"/>
            <a:ext cx="45720" cy="100584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44728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Coerente com a fisiologia: a fumaça agrava quadros nos meses seguintes, não no mesmo dia. Sinal fraco, mas consistente.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C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ONDE O SINAL MORA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C53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efeito tem endereço: o Sudeste.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48463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32120" y="178308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Recortando por região, o sinal se concentra no Sudeste (pico em 3 meses de defasagem) — não porque a fumaça lá seja pior, mas porque a grande população permite medir com menos ruído.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532120" y="36576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dá para medir bem, </a:t>
            </a:r>
            <a:pPr indent="0" marL="0">
              <a:buNone/>
            </a:pPr>
            <a:r>
              <a:rPr lang="en-US" sz="1400" b="1" dirty="0">
                <a:solidFill>
                  <a:srgbClr val="2C53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efeito aparece.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C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A PROVA ESTATÍSTICA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2C53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Sudeste, a estatística confirma.</a:t>
            </a:r>
            <a:endParaRPr lang="en-US" sz="2700" dirty="0"/>
          </a:p>
        </p:txBody>
      </p:sp>
      <p:pic>
        <p:nvPicPr>
          <p:cNvPr id="4" name="Image 0" descr="/home/claude/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17320"/>
            <a:ext cx="4983480" cy="3694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0" y="16002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3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Mann-Whitney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669280" y="1984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 NÃO-PARAMÉTRICO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669280" y="244144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C7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= 0,026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669280" y="28254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REJEITA H₀ (SIGNIFICATIVO)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669280" y="328269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5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 meses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669280" y="36667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7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DEFASAGEM DO EFEITO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69280" y="4224528"/>
            <a:ext cx="45720" cy="73152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12" name="Text 9"/>
          <p:cNvSpPr/>
          <p:nvPr/>
        </p:nvSpPr>
        <p:spPr>
          <a:xfrm>
            <a:off x="5852160" y="42062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 honesto: localizado, não nacional. Pede confirmação com dados municipais e diários.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C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O PRODUTO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C53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fraqueza do sinal é o argumento do BreathAlert BR.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impacto da fumaça se dilui nas estatísticas nacionais — fica quase invisível justamente onde as decisões de saúde são tomadas. Um alerta eficaz precisa agir localmente e de forma antecipada, usando a seca (que sobe antes do fogo) como gatilho precoce.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0F2027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3127248"/>
            <a:ext cx="384048" cy="384048"/>
          </a:xfrm>
          <a:prstGeom prst="ellipse">
            <a:avLst/>
          </a:prstGeom>
          <a:solidFill>
            <a:srgbClr val="2C5364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3108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3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3657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estado/região,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média nacional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288036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0F2027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3127248"/>
            <a:ext cx="384048" cy="384048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11" name="Text 9"/>
          <p:cNvSpPr/>
          <p:nvPr/>
        </p:nvSpPr>
        <p:spPr>
          <a:xfrm>
            <a:off x="3977640" y="3108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A2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Antecipado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02152" y="3657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na seca,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fogo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288036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0F2027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3127248"/>
            <a:ext cx="384048" cy="384048"/>
          </a:xfrm>
          <a:prstGeom prst="ellipse">
            <a:avLst/>
          </a:prstGeom>
          <a:solidFill>
            <a:srgbClr val="EA5455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3108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54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Preventivo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99632" y="3657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à saúde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da internação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C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7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O QUE VEM A SEGUIR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C53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 é o começo, não o ponto final.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4203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027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2542032" cy="64008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7335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7A2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GRANULARIDADE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90195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53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Dados municipais e diários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235000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Descer da escala estadual/mensal para onde a fumaça age.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54203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027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508760"/>
            <a:ext cx="2542032" cy="64008"/>
          </a:xfrm>
          <a:prstGeom prst="rect">
            <a:avLst/>
          </a:prstGeom>
          <a:solidFill>
            <a:srgbClr val="EA5455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67335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A5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PREVISÃO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74720" y="190195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53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preditivo sazonal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474720" y="235000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Prophet/LSTM para antecipar picos a partir da seca.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508760"/>
            <a:ext cx="254203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027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508760"/>
            <a:ext cx="2542032" cy="64008"/>
          </a:xfrm>
          <a:prstGeom prst="rect">
            <a:avLst/>
          </a:prstGeom>
          <a:solidFill>
            <a:srgbClr val="28C76F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67335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8C7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AR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17920" y="190195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53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Qualidade do ar (PM2.5)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17920" y="235000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material particulado (MERRA-2/estações).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254203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027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108960"/>
            <a:ext cx="2542032" cy="64008"/>
          </a:xfrm>
          <a:prstGeom prst="rect">
            <a:avLst/>
          </a:prstGeom>
          <a:solidFill>
            <a:srgbClr val="2C536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27355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C53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ÍNDICE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350215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53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IRSQ por município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31520" y="395020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risco com níveis de alerta por cidade.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91840" y="3108960"/>
            <a:ext cx="254203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027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108960"/>
            <a:ext cx="2542032" cy="64008"/>
          </a:xfrm>
          <a:prstGeom prst="rect">
            <a:avLst/>
          </a:prstGeom>
          <a:solidFill>
            <a:srgbClr val="C99700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27355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99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ACESSO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74720" y="350215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53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pública e dashboard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3474720" y="395020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aberto para secretarias e Defesa Civil.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3108960"/>
            <a:ext cx="254203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88900" dist="25400" dir="5400000">
              <a:srgbClr val="0F2027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3108960"/>
            <a:ext cx="2542032" cy="64008"/>
          </a:xfrm>
          <a:prstGeom prst="rect">
            <a:avLst/>
          </a:prstGeom>
          <a:solidFill>
            <a:srgbClr val="203A43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3273552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03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VALIDAÇÃO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17920" y="3502152"/>
            <a:ext cx="217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C53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 em campo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217920" y="395020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alertas com dados reais de atendimento.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21040" y="47365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EBC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3444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7A2B8"/>
          </a:solidFill>
          <a:ln/>
        </p:spPr>
      </p:sp>
      <p:sp>
        <p:nvSpPr>
          <p:cNvPr id="3" name="Shape 1"/>
          <p:cNvSpPr/>
          <p:nvPr/>
        </p:nvSpPr>
        <p:spPr>
          <a:xfrm>
            <a:off x="4297680" y="1426464"/>
            <a:ext cx="182880" cy="73152"/>
          </a:xfrm>
          <a:prstGeom prst="rect">
            <a:avLst/>
          </a:prstGeom>
          <a:solidFill>
            <a:srgbClr val="FDCA26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BREATHALERT BR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22402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dados à decisão que protege quem respira.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828800" y="3429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completa, código e metodologia disponíveis no repositório do projeto.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7F93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Fontes: INPE/BDQueimadas · DATASUS/SIH-SUS · IBGE/SIDRA (tabela 6579)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BreathAlert BR · Global Solution 2026</dc:title>
  <dc:subject>PptxGenJS Presentation</dc:subject>
  <dc:creator>BreathAlert BR</dc:creator>
  <cp:lastModifiedBy>BreathAlert BR</cp:lastModifiedBy>
  <cp:revision>1</cp:revision>
  <dcterms:created xsi:type="dcterms:W3CDTF">2026-06-06T22:30:13Z</dcterms:created>
  <dcterms:modified xsi:type="dcterms:W3CDTF">2026-06-06T22:30:13Z</dcterms:modified>
</cp:coreProperties>
</file>